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Shape 0"/>
          <p:cNvSpPr/>
          <p:nvPr/>
        </p:nvSpPr>
        <p:spPr>
          <a:xfrm>
            <a:off x="540022" y="1545654"/>
            <a:ext cx="3232846" cy="234480"/>
          </a:xfrm>
          <a:prstGeom prst="roundRect">
            <a:avLst>
              <a:gd name="adj" fmla="val 50000"/>
            </a:avLst>
          </a:prstGeom>
          <a:ln w="14288">
            <a:solidFill>
              <a:srgbClr val="16FF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"/>
          <p:cNvSpPr txBox="1"/>
          <p:nvPr/>
        </p:nvSpPr>
        <p:spPr>
          <a:xfrm>
            <a:off x="632594" y="1591940"/>
            <a:ext cx="32413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900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defRPr>
            </a:lvl1pPr>
          </a:lstStyle>
          <a:p>
            <a:pPr/>
            <a:r>
              <a:t>QUANTITATIVE FINANCE · CRYPTOCURRENCY RESEARCH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540023" y="1841822"/>
            <a:ext cx="4634954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000"/>
              </a:lnSpc>
              <a:defRPr b="1" sz="27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Statistical Arbitrage in Cryptocurrencies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540023" y="2930499"/>
            <a:ext cx="4634954" cy="579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3000"/>
              </a:lnSpc>
              <a:spcBef>
                <a:spcPts val="1300"/>
              </a:spcBef>
              <a:defRPr sz="1200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BTC/USD Momentum Research Project</a:t>
            </a:r>
          </a:p>
          <a:p>
            <a:pPr>
              <a:lnSpc>
                <a:spcPct val="133000"/>
              </a:lnSpc>
              <a:defRPr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Shruti Narmeti · Quantitative Finance ·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 txBox="1"/>
          <p:nvPr/>
        </p:nvSpPr>
        <p:spPr>
          <a:xfrm>
            <a:off x="540022" y="424978"/>
            <a:ext cx="284986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0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The Research Question</a:t>
            </a:r>
          </a:p>
        </p:txBody>
      </p:sp>
      <p:pic>
        <p:nvPicPr>
          <p:cNvPr id="3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0022" y="974229"/>
            <a:ext cx="5142757" cy="2914204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 1"/>
          <p:cNvSpPr txBox="1"/>
          <p:nvPr/>
        </p:nvSpPr>
        <p:spPr>
          <a:xfrm>
            <a:off x="5969868" y="2069528"/>
            <a:ext cx="2638872" cy="321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000"/>
              </a:lnSpc>
              <a:defRPr b="1" sz="10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Can Bitcoin's recent price movement predict its next move?</a:t>
            </a:r>
          </a:p>
        </p:txBody>
      </p:sp>
      <p:sp>
        <p:nvSpPr>
          <p:cNvPr id="38" name="Text 2"/>
          <p:cNvSpPr txBox="1"/>
          <p:nvPr/>
        </p:nvSpPr>
        <p:spPr>
          <a:xfrm>
            <a:off x="5969868" y="2477765"/>
            <a:ext cx="2638872" cy="32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6999"/>
              </a:lnSpc>
              <a:defRPr sz="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lvl1pPr>
          </a:lstStyle>
          <a:p>
            <a:pPr/>
            <a:r>
              <a:t>This project tests two competing hypotheses using historical data — not intuition.</a:t>
            </a:r>
          </a:p>
        </p:txBody>
      </p:sp>
      <p:pic>
        <p:nvPicPr>
          <p:cNvPr id="3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0022" y="4083694"/>
            <a:ext cx="3988596" cy="634753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Text 3"/>
          <p:cNvSpPr txBox="1"/>
          <p:nvPr/>
        </p:nvSpPr>
        <p:spPr>
          <a:xfrm>
            <a:off x="727173" y="4213695"/>
            <a:ext cx="6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000">
                <a:solidFill>
                  <a:srgbClr val="16FFBB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Momentum</a:t>
            </a:r>
          </a:p>
        </p:txBody>
      </p:sp>
      <p:sp>
        <p:nvSpPr>
          <p:cNvPr id="41" name="Text 4"/>
          <p:cNvSpPr txBox="1"/>
          <p:nvPr/>
        </p:nvSpPr>
        <p:spPr>
          <a:xfrm>
            <a:off x="727173" y="4426446"/>
            <a:ext cx="29541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16999"/>
              </a:lnSpc>
              <a:defRPr sz="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Recent upward movement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continues</a:t>
            </a:r>
            <a:r>
              <a:t> into the next period.</a:t>
            </a:r>
          </a:p>
        </p:txBody>
      </p:sp>
      <p:pic>
        <p:nvPicPr>
          <p:cNvPr id="42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615383" y="4083694"/>
            <a:ext cx="3988595" cy="634753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Text 5"/>
          <p:cNvSpPr txBox="1"/>
          <p:nvPr/>
        </p:nvSpPr>
        <p:spPr>
          <a:xfrm>
            <a:off x="4802535" y="4213695"/>
            <a:ext cx="542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000">
                <a:solidFill>
                  <a:srgbClr val="E0E4E6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Reversal</a:t>
            </a:r>
          </a:p>
        </p:txBody>
      </p:sp>
      <p:sp>
        <p:nvSpPr>
          <p:cNvPr id="44" name="Text 6"/>
          <p:cNvSpPr txBox="1"/>
          <p:nvPr/>
        </p:nvSpPr>
        <p:spPr>
          <a:xfrm>
            <a:off x="4802535" y="4426446"/>
            <a:ext cx="299253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16999"/>
              </a:lnSpc>
              <a:defRPr sz="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Recent movement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fades or reverses</a:t>
            </a:r>
            <a:r>
              <a:t> over the next period.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 txBox="1"/>
          <p:nvPr/>
        </p:nvSpPr>
        <p:spPr>
          <a:xfrm>
            <a:off x="540022" y="429964"/>
            <a:ext cx="24472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5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Data &amp; Cleaning</a:t>
            </a:r>
          </a:p>
        </p:txBody>
      </p:sp>
      <p:sp>
        <p:nvSpPr>
          <p:cNvPr id="47" name="Text 1"/>
          <p:cNvSpPr txBox="1"/>
          <p:nvPr/>
        </p:nvSpPr>
        <p:spPr>
          <a:xfrm>
            <a:off x="540022" y="1170755"/>
            <a:ext cx="52935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Source</a:t>
            </a:r>
          </a:p>
        </p:txBody>
      </p:sp>
      <p:sp>
        <p:nvSpPr>
          <p:cNvPr id="48" name="Text 2"/>
          <p:cNvSpPr txBox="1"/>
          <p:nvPr/>
        </p:nvSpPr>
        <p:spPr>
          <a:xfrm>
            <a:off x="540022" y="1507257"/>
            <a:ext cx="2592960" cy="448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9000"/>
              </a:lnSpc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Bitstamp BTC/USD minute-level OHLCV data,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2012 – early 2025</a:t>
            </a:r>
          </a:p>
        </p:txBody>
      </p:sp>
      <p:sp>
        <p:nvSpPr>
          <p:cNvPr id="49" name="Text 3"/>
          <p:cNvSpPr txBox="1"/>
          <p:nvPr/>
        </p:nvSpPr>
        <p:spPr>
          <a:xfrm>
            <a:off x="540022" y="2091258"/>
            <a:ext cx="129165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Processing Steps</a:t>
            </a:r>
          </a:p>
        </p:txBody>
      </p:sp>
      <p:sp>
        <p:nvSpPr>
          <p:cNvPr id="50" name="Text 4"/>
          <p:cNvSpPr txBox="1"/>
          <p:nvPr/>
        </p:nvSpPr>
        <p:spPr>
          <a:xfrm>
            <a:off x="540022" y="2427758"/>
            <a:ext cx="2592960" cy="991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23520" indent="-223520">
              <a:lnSpc>
                <a:spcPct val="129000"/>
              </a:lnSpc>
              <a:buSzPct val="100000"/>
              <a:buChar char="•"/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Minute-level data aggregated into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complete daily observations</a:t>
            </a:r>
          </a:p>
          <a:p>
            <a:pPr marL="223520" indent="-223520">
              <a:lnSpc>
                <a:spcPct val="129000"/>
              </a:lnSpc>
              <a:buSzPct val="100000"/>
              <a:buChar char="•"/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Incomplete trading days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removed</a:t>
            </a:r>
          </a:p>
          <a:p>
            <a:pPr marL="223520" indent="-223520">
              <a:lnSpc>
                <a:spcPct val="129000"/>
              </a:lnSpc>
              <a:buSzPct val="100000"/>
              <a:buChar char="•"/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Zero-volume days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filtered out</a:t>
            </a:r>
          </a:p>
        </p:txBody>
      </p:sp>
      <p:sp>
        <p:nvSpPr>
          <p:cNvPr id="51" name="Shape 5"/>
          <p:cNvSpPr/>
          <p:nvPr/>
        </p:nvSpPr>
        <p:spPr>
          <a:xfrm>
            <a:off x="540022" y="3571949"/>
            <a:ext cx="2592960" cy="989038"/>
          </a:xfrm>
          <a:prstGeom prst="roundRect">
            <a:avLst>
              <a:gd name="adj" fmla="val 21940"/>
            </a:avLst>
          </a:prstGeom>
          <a:solidFill>
            <a:srgbClr val="0080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4683" y="3792885"/>
            <a:ext cx="180827" cy="144662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Text 6"/>
          <p:cNvSpPr txBox="1"/>
          <p:nvPr/>
        </p:nvSpPr>
        <p:spPr>
          <a:xfrm>
            <a:off x="1010170" y="3730154"/>
            <a:ext cx="1978151" cy="672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9000"/>
              </a:lnSpc>
              <a:def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</a:lstStyle>
          <a:p>
            <a:pPr/>
            <a:r>
              <a:t>Clean data prevents false trading signals and ensures reliable backtest results.</a:t>
            </a:r>
          </a:p>
        </p:txBody>
      </p:sp>
      <p:pic>
        <p:nvPicPr>
          <p:cNvPr id="5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90614" y="1478533"/>
            <a:ext cx="5118051" cy="27916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 txBox="1"/>
          <p:nvPr/>
        </p:nvSpPr>
        <p:spPr>
          <a:xfrm>
            <a:off x="540022" y="668758"/>
            <a:ext cx="4127669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7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Momentum Horizon Scan</a:t>
            </a:r>
          </a:p>
        </p:txBody>
      </p:sp>
      <p:pic>
        <p:nvPicPr>
          <p:cNvPr id="5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0022" y="1502345"/>
            <a:ext cx="3843785" cy="2019078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ext 1"/>
          <p:cNvSpPr txBox="1"/>
          <p:nvPr/>
        </p:nvSpPr>
        <p:spPr>
          <a:xfrm>
            <a:off x="4764956" y="1483071"/>
            <a:ext cx="12726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What We Tested</a:t>
            </a:r>
          </a:p>
        </p:txBody>
      </p:sp>
      <p:sp>
        <p:nvSpPr>
          <p:cNvPr id="59" name="Text 2"/>
          <p:cNvSpPr txBox="1"/>
          <p:nvPr/>
        </p:nvSpPr>
        <p:spPr>
          <a:xfrm>
            <a:off x="4764956" y="1851644"/>
            <a:ext cx="3843785" cy="493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Twelve lookback horizons: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1, 2, 3, 5, 10, 15, 20, 30, 45, 60, 90, and 120 days.</a:t>
            </a:r>
          </a:p>
        </p:txBody>
      </p:sp>
      <p:sp>
        <p:nvSpPr>
          <p:cNvPr id="60" name="Text 3"/>
          <p:cNvSpPr txBox="1"/>
          <p:nvPr/>
        </p:nvSpPr>
        <p:spPr>
          <a:xfrm>
            <a:off x="4764956" y="2484313"/>
            <a:ext cx="3843785" cy="54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43840" indent="-243840">
              <a:lnSpc>
                <a:spcPct val="133000"/>
              </a:lnSpc>
              <a:buSzPct val="100000"/>
              <a:buChar char="•"/>
              <a:defRPr b="1" sz="120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defRPr>
            </a:pPr>
            <a:r>
              <a:t>Positive correlation</a:t>
            </a:r>
            <a:r>
              <a:rPr b="0">
                <a:latin typeface="Barlow"/>
                <a:ea typeface="Barlow"/>
                <a:cs typeface="Barlow"/>
                <a:sym typeface="Barlow"/>
              </a:rPr>
              <a:t> → momentum signal</a:t>
            </a:r>
          </a:p>
          <a:p>
            <a:pPr marL="243840" indent="-243840">
              <a:lnSpc>
                <a:spcPct val="133000"/>
              </a:lnSpc>
              <a:buSzPct val="100000"/>
              <a:buChar char="•"/>
              <a:defRPr b="1" sz="120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defRPr>
            </a:pPr>
            <a:r>
              <a:t>Negative correlation</a:t>
            </a:r>
            <a:r>
              <a:rPr b="0">
                <a:latin typeface="Barlow"/>
                <a:ea typeface="Barlow"/>
                <a:cs typeface="Barlow"/>
                <a:sym typeface="Barlow"/>
              </a:rPr>
              <a:t> → reversal signal</a:t>
            </a:r>
          </a:p>
        </p:txBody>
      </p:sp>
      <p:sp>
        <p:nvSpPr>
          <p:cNvPr id="61" name="Shape 4"/>
          <p:cNvSpPr/>
          <p:nvPr/>
        </p:nvSpPr>
        <p:spPr>
          <a:xfrm>
            <a:off x="4764956" y="3205608"/>
            <a:ext cx="3843785" cy="1095526"/>
          </a:xfrm>
          <a:prstGeom prst="roundRect">
            <a:avLst>
              <a:gd name="adj" fmla="val 21128"/>
            </a:avLst>
          </a:prstGeom>
          <a:solidFill>
            <a:srgbClr val="0080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9216" y="3444404"/>
            <a:ext cx="192882" cy="154261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ext 5"/>
          <p:cNvSpPr txBox="1"/>
          <p:nvPr/>
        </p:nvSpPr>
        <p:spPr>
          <a:xfrm>
            <a:off x="5266357" y="3383012"/>
            <a:ext cx="3188124" cy="740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b="1" sz="120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defRPr>
            </a:pPr>
            <a:r>
              <a:t>Key finding:</a:t>
            </a:r>
            <a:r>
              <a:rPr b="0">
                <a:latin typeface="Barlow"/>
                <a:ea typeface="Barlow"/>
                <a:cs typeface="Barlow"/>
                <a:sym typeface="Barlow"/>
              </a:rPr>
              <a:t> Medium and longer horizons were directionally positive; the final 30-day rule was selected using validation performance.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 txBox="1"/>
          <p:nvPr/>
        </p:nvSpPr>
        <p:spPr>
          <a:xfrm>
            <a:off x="540022" y="545306"/>
            <a:ext cx="4561149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7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Activity &amp; Seasonality Tests</a:t>
            </a:r>
          </a:p>
        </p:txBody>
      </p:sp>
      <p:pic>
        <p:nvPicPr>
          <p:cNvPr id="6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0022" y="1378892"/>
            <a:ext cx="3843785" cy="1762200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ext 2"/>
          <p:cNvSpPr txBox="1"/>
          <p:nvPr/>
        </p:nvSpPr>
        <p:spPr>
          <a:xfrm>
            <a:off x="4764956" y="1359619"/>
            <a:ext cx="13582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Why Test These?</a:t>
            </a:r>
          </a:p>
        </p:txBody>
      </p:sp>
      <p:sp>
        <p:nvSpPr>
          <p:cNvPr id="68" name="Text 3"/>
          <p:cNvSpPr txBox="1"/>
          <p:nvPr/>
        </p:nvSpPr>
        <p:spPr>
          <a:xfrm>
            <a:off x="4764956" y="1728191"/>
            <a:ext cx="3843785" cy="493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lvl1pPr>
          </a:lstStyle>
          <a:p>
            <a:pPr/>
            <a:r>
              <a:t>Crypto trades 24/7 — entry timing and market activity may influence signal quality.</a:t>
            </a:r>
          </a:p>
        </p:txBody>
      </p:sp>
      <p:sp>
        <p:nvSpPr>
          <p:cNvPr id="69" name="Text 4"/>
          <p:cNvSpPr txBox="1"/>
          <p:nvPr/>
        </p:nvSpPr>
        <p:spPr>
          <a:xfrm>
            <a:off x="4764956" y="2360860"/>
            <a:ext cx="3843785" cy="1041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43840" indent="-243840">
              <a:lnSpc>
                <a:spcPct val="133000"/>
              </a:lnSpc>
              <a:buSzPct val="100000"/>
              <a:buChar char="•"/>
              <a:defRPr b="1" sz="120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defRPr>
            </a:pPr>
            <a:r>
              <a:t>Volume activity:</a:t>
            </a:r>
            <a:r>
              <a:rPr b="0">
                <a:latin typeface="Barlow"/>
                <a:ea typeface="Barlow"/>
                <a:cs typeface="Barlow"/>
                <a:sym typeface="Barlow"/>
              </a:rPr>
              <a:t> Tested whether high- or low-volume periods strengthen the 20-day signal</a:t>
            </a:r>
          </a:p>
          <a:p>
            <a:pPr marL="243840" indent="-243840">
              <a:lnSpc>
                <a:spcPct val="133000"/>
              </a:lnSpc>
              <a:buSzPct val="100000"/>
              <a:buChar char="•"/>
              <a:defRPr b="1" sz="120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defRPr>
            </a:pPr>
            <a:r>
              <a:t>Weekday vs. weekend:</a:t>
            </a:r>
            <a:r>
              <a:rPr b="0">
                <a:latin typeface="Barlow"/>
                <a:ea typeface="Barlow"/>
                <a:cs typeface="Barlow"/>
                <a:sym typeface="Barlow"/>
              </a:rPr>
              <a:t> Tested whether day-of-week entry timing affects next-day returns</a:t>
            </a:r>
          </a:p>
        </p:txBody>
      </p:sp>
      <p:sp>
        <p:nvSpPr>
          <p:cNvPr id="70" name="Shape 5"/>
          <p:cNvSpPr/>
          <p:nvPr/>
        </p:nvSpPr>
        <p:spPr>
          <a:xfrm>
            <a:off x="4764956" y="3575968"/>
            <a:ext cx="3843785" cy="848619"/>
          </a:xfrm>
          <a:prstGeom prst="roundRect">
            <a:avLst>
              <a:gd name="adj" fmla="val 27275"/>
            </a:avLst>
          </a:prstGeom>
          <a:solidFill>
            <a:srgbClr val="0080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9216" y="3814762"/>
            <a:ext cx="192882" cy="154261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Text 6"/>
          <p:cNvSpPr txBox="1"/>
          <p:nvPr/>
        </p:nvSpPr>
        <p:spPr>
          <a:xfrm>
            <a:off x="5266357" y="3753370"/>
            <a:ext cx="3188124" cy="493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Results were interesting but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not strong enough</a:t>
            </a:r>
            <a:r>
              <a:t> to use as final strategy filters.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 txBox="1"/>
          <p:nvPr/>
        </p:nvSpPr>
        <p:spPr>
          <a:xfrm>
            <a:off x="540022" y="424308"/>
            <a:ext cx="145321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Strategy Selection</a:t>
            </a:r>
          </a:p>
        </p:txBody>
      </p:sp>
      <p:pic>
        <p:nvPicPr>
          <p:cNvPr id="7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0022" y="715714"/>
            <a:ext cx="8063956" cy="3628727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Text 1"/>
          <p:cNvSpPr txBox="1"/>
          <p:nvPr/>
        </p:nvSpPr>
        <p:spPr>
          <a:xfrm>
            <a:off x="2483244" y="922156"/>
            <a:ext cx="60548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b="1" sz="1200">
                <a:solidFill>
                  <a:srgbClr val="E0E4E6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Training</a:t>
            </a:r>
          </a:p>
        </p:txBody>
      </p:sp>
      <p:sp>
        <p:nvSpPr>
          <p:cNvPr id="77" name="Text 2"/>
          <p:cNvSpPr txBox="1"/>
          <p:nvPr/>
        </p:nvSpPr>
        <p:spPr>
          <a:xfrm>
            <a:off x="2080399" y="1178027"/>
            <a:ext cx="1411173" cy="261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886968">
              <a:lnSpc>
                <a:spcPct val="78000"/>
              </a:lnSpc>
              <a:defRPr sz="97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lvl1pPr>
          </a:lstStyle>
          <a:p>
            <a:pPr/>
            <a:r>
              <a:t>2015–2019: signal discovery and testing</a:t>
            </a:r>
          </a:p>
        </p:txBody>
      </p:sp>
      <p:sp>
        <p:nvSpPr>
          <p:cNvPr id="78" name="Text 3"/>
          <p:cNvSpPr txBox="1"/>
          <p:nvPr/>
        </p:nvSpPr>
        <p:spPr>
          <a:xfrm>
            <a:off x="4206920" y="3643702"/>
            <a:ext cx="73258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b="1" sz="1200">
                <a:solidFill>
                  <a:srgbClr val="E0E4E6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Validation</a:t>
            </a:r>
          </a:p>
        </p:txBody>
      </p:sp>
      <p:sp>
        <p:nvSpPr>
          <p:cNvPr id="79" name="Text 4"/>
          <p:cNvSpPr txBox="1"/>
          <p:nvPr/>
        </p:nvSpPr>
        <p:spPr>
          <a:xfrm>
            <a:off x="3863749" y="3899573"/>
            <a:ext cx="1418926" cy="261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886968">
              <a:lnSpc>
                <a:spcPct val="78000"/>
              </a:lnSpc>
              <a:defRPr sz="97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lvl1pPr>
          </a:lstStyle>
          <a:p>
            <a:pPr/>
            <a:r>
              <a:t>2020–2021: rule selection and tuning</a:t>
            </a:r>
          </a:p>
        </p:txBody>
      </p:sp>
      <p:sp>
        <p:nvSpPr>
          <p:cNvPr id="80" name="Text 5"/>
          <p:cNvSpPr txBox="1"/>
          <p:nvPr/>
        </p:nvSpPr>
        <p:spPr>
          <a:xfrm>
            <a:off x="6140997" y="829597"/>
            <a:ext cx="3148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b="1" sz="1200">
                <a:solidFill>
                  <a:srgbClr val="E0E4E6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Test</a:t>
            </a:r>
          </a:p>
        </p:txBody>
      </p:sp>
      <p:sp>
        <p:nvSpPr>
          <p:cNvPr id="81" name="Text 6"/>
          <p:cNvSpPr txBox="1"/>
          <p:nvPr/>
        </p:nvSpPr>
        <p:spPr>
          <a:xfrm>
            <a:off x="5592822" y="1085469"/>
            <a:ext cx="1411172" cy="392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lnSpc>
                <a:spcPct val="78000"/>
              </a:lnSpc>
              <a:defRPr sz="10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lvl1pPr>
          </a:lstStyle>
          <a:p>
            <a:pPr/>
            <a:r>
              <a:t>2022–2025: honest out-of-sample evaluation</a:t>
            </a:r>
          </a:p>
        </p:txBody>
      </p:sp>
      <p:sp>
        <p:nvSpPr>
          <p:cNvPr id="82" name="Text 7"/>
          <p:cNvSpPr txBox="1"/>
          <p:nvPr/>
        </p:nvSpPr>
        <p:spPr>
          <a:xfrm>
            <a:off x="540022" y="4387824"/>
            <a:ext cx="36132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6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lvl1pPr>
          </a:lstStyle>
          <a:p>
            <a:pPr/>
            <a:r>
              <a:t>The validation period selected the final rule; the test period was kept fully separate for unbiased evaluation.</a:t>
            </a:r>
          </a:p>
        </p:txBody>
      </p:sp>
      <p:sp>
        <p:nvSpPr>
          <p:cNvPr id="83" name="Text 8"/>
          <p:cNvSpPr txBox="1"/>
          <p:nvPr/>
        </p:nvSpPr>
        <p:spPr>
          <a:xfrm>
            <a:off x="540022" y="4538216"/>
            <a:ext cx="15029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6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Final Rule: 30-Day Long-Only Momentum</a:t>
            </a:r>
          </a:p>
        </p:txBody>
      </p:sp>
      <p:sp>
        <p:nvSpPr>
          <p:cNvPr id="84" name="Shape 9"/>
          <p:cNvSpPr/>
          <p:nvPr/>
        </p:nvSpPr>
        <p:spPr>
          <a:xfrm>
            <a:off x="540022" y="4703191"/>
            <a:ext cx="2662240" cy="396107"/>
          </a:xfrm>
          <a:prstGeom prst="roundRect">
            <a:avLst>
              <a:gd name="adj" fmla="val 29217"/>
            </a:avLst>
          </a:prstGeom>
          <a:solidFill>
            <a:srgbClr val="0A081B"/>
          </a:solidFill>
          <a:ln>
            <a:solidFill>
              <a:srgbClr val="16FF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10"/>
          <p:cNvSpPr txBox="1"/>
          <p:nvPr/>
        </p:nvSpPr>
        <p:spPr>
          <a:xfrm>
            <a:off x="626641" y="4789809"/>
            <a:ext cx="2413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600">
                <a:solidFill>
                  <a:srgbClr val="E0E4E6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Signal</a:t>
            </a:r>
          </a:p>
        </p:txBody>
      </p:sp>
      <p:sp>
        <p:nvSpPr>
          <p:cNvPr id="86" name="Text 11"/>
          <p:cNvSpPr txBox="1"/>
          <p:nvPr/>
        </p:nvSpPr>
        <p:spPr>
          <a:xfrm>
            <a:off x="626641" y="4920108"/>
            <a:ext cx="12621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6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Bitcoin was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up</a:t>
            </a:r>
            <a:r>
              <a:t> over the past 30 days</a:t>
            </a:r>
          </a:p>
        </p:txBody>
      </p:sp>
      <p:sp>
        <p:nvSpPr>
          <p:cNvPr id="87" name="Shape 12"/>
          <p:cNvSpPr/>
          <p:nvPr/>
        </p:nvSpPr>
        <p:spPr>
          <a:xfrm>
            <a:off x="3240807" y="4703191"/>
            <a:ext cx="2662312" cy="396107"/>
          </a:xfrm>
          <a:prstGeom prst="roundRect">
            <a:avLst>
              <a:gd name="adj" fmla="val 29217"/>
            </a:avLst>
          </a:prstGeom>
          <a:solidFill>
            <a:srgbClr val="0A081B"/>
          </a:solidFill>
          <a:ln>
            <a:solidFill>
              <a:srgbClr val="29DD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13"/>
          <p:cNvSpPr txBox="1"/>
          <p:nvPr/>
        </p:nvSpPr>
        <p:spPr>
          <a:xfrm>
            <a:off x="3327425" y="4789809"/>
            <a:ext cx="24974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600">
                <a:solidFill>
                  <a:srgbClr val="E0E4E6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9" name="Text 14"/>
          <p:cNvSpPr txBox="1"/>
          <p:nvPr/>
        </p:nvSpPr>
        <p:spPr>
          <a:xfrm>
            <a:off x="3327425" y="4920108"/>
            <a:ext cx="9061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b="1" sz="60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defRPr>
            </a:pPr>
            <a:r>
              <a:t>Hold BTC</a:t>
            </a:r>
            <a:r>
              <a:rPr b="0">
                <a:latin typeface="Barlow"/>
                <a:ea typeface="Barlow"/>
                <a:cs typeface="Barlow"/>
                <a:sym typeface="Barlow"/>
              </a:rPr>
              <a:t> for the next day</a:t>
            </a:r>
          </a:p>
        </p:txBody>
      </p:sp>
      <p:sp>
        <p:nvSpPr>
          <p:cNvPr id="90" name="Shape 15"/>
          <p:cNvSpPr/>
          <p:nvPr/>
        </p:nvSpPr>
        <p:spPr>
          <a:xfrm>
            <a:off x="5941664" y="4703191"/>
            <a:ext cx="2662313" cy="396107"/>
          </a:xfrm>
          <a:prstGeom prst="roundRect">
            <a:avLst>
              <a:gd name="adj" fmla="val 29217"/>
            </a:avLst>
          </a:prstGeom>
          <a:solidFill>
            <a:srgbClr val="0A081B"/>
          </a:solidFill>
          <a:ln>
            <a:solidFill>
              <a:srgbClr val="37A7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16"/>
          <p:cNvSpPr txBox="1"/>
          <p:nvPr/>
        </p:nvSpPr>
        <p:spPr>
          <a:xfrm>
            <a:off x="6028282" y="4789809"/>
            <a:ext cx="3811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600">
                <a:solidFill>
                  <a:srgbClr val="E0E4E6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Otherwise</a:t>
            </a:r>
          </a:p>
        </p:txBody>
      </p:sp>
      <p:sp>
        <p:nvSpPr>
          <p:cNvPr id="92" name="Text 17"/>
          <p:cNvSpPr txBox="1"/>
          <p:nvPr/>
        </p:nvSpPr>
        <p:spPr>
          <a:xfrm>
            <a:off x="6028282" y="4920108"/>
            <a:ext cx="9445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b="1" sz="60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defRPr>
            </a:pPr>
            <a:r>
              <a:t>Stay in cash</a:t>
            </a:r>
            <a:r>
              <a:rPr b="0">
                <a:latin typeface="Barlow"/>
                <a:ea typeface="Barlow"/>
                <a:cs typeface="Barlow"/>
                <a:sym typeface="Barlow"/>
              </a:rPr>
              <a:t> — no position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 txBox="1"/>
          <p:nvPr/>
        </p:nvSpPr>
        <p:spPr>
          <a:xfrm>
            <a:off x="540022" y="520378"/>
            <a:ext cx="426354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6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Held-Out Test Performance</a:t>
            </a:r>
          </a:p>
        </p:txBody>
      </p:sp>
      <p:sp>
        <p:nvSpPr>
          <p:cNvPr id="95" name="Text 1"/>
          <p:cNvSpPr txBox="1"/>
          <p:nvPr/>
        </p:nvSpPr>
        <p:spPr>
          <a:xfrm>
            <a:off x="540022" y="1225228"/>
            <a:ext cx="241236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31000"/>
              </a:lnSpc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Test period: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2022-01-01 to 2025-01-06</a:t>
            </a:r>
          </a:p>
        </p:txBody>
      </p:sp>
      <p:pic>
        <p:nvPicPr>
          <p:cNvPr id="9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0022" y="1786458"/>
            <a:ext cx="3849665" cy="2673773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 2"/>
          <p:cNvSpPr txBox="1"/>
          <p:nvPr/>
        </p:nvSpPr>
        <p:spPr>
          <a:xfrm>
            <a:off x="4759076" y="1768375"/>
            <a:ext cx="186572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Interpreting the Results</a:t>
            </a:r>
          </a:p>
        </p:txBody>
      </p:sp>
      <p:sp>
        <p:nvSpPr>
          <p:cNvPr id="98" name="Text 3"/>
          <p:cNvSpPr txBox="1"/>
          <p:nvPr/>
        </p:nvSpPr>
        <p:spPr>
          <a:xfrm>
            <a:off x="4759076" y="2120800"/>
            <a:ext cx="3849664" cy="1329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33679" indent="-233679">
              <a:lnSpc>
                <a:spcPct val="131000"/>
              </a:lnSpc>
              <a:buSzPct val="100000"/>
              <a:buChar char="•"/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Buy-and-hold had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higher total return</a:t>
            </a:r>
            <a:r>
              <a:t> (119.3% vs. 90.3%)</a:t>
            </a:r>
          </a:p>
          <a:p>
            <a:pPr marL="233679" indent="-233679">
              <a:lnSpc>
                <a:spcPct val="131000"/>
              </a:lnSpc>
              <a:buSzPct val="100000"/>
              <a:buChar char="•"/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Strategy had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lower volatility</a:t>
            </a:r>
            <a:r>
              <a:t> (36.7% vs. 53.7%)</a:t>
            </a:r>
          </a:p>
          <a:p>
            <a:pPr marL="233679" indent="-233679">
              <a:lnSpc>
                <a:spcPct val="131000"/>
              </a:lnSpc>
              <a:buSzPct val="100000"/>
              <a:buChar char="•"/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Strategy had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much smaller drawdowns</a:t>
            </a:r>
            <a:r>
              <a:t> (−40.2% vs. −66.8%)</a:t>
            </a:r>
          </a:p>
          <a:p>
            <a:pPr marL="233679" indent="-233679">
              <a:lnSpc>
                <a:spcPct val="131000"/>
              </a:lnSpc>
              <a:buSzPct val="100000"/>
              <a:buChar char="•"/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Sharpe ratios were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nearly identical</a:t>
            </a:r>
            <a:r>
              <a:t> (0.76 vs. 0.75)</a:t>
            </a:r>
          </a:p>
        </p:txBody>
      </p:sp>
      <p:sp>
        <p:nvSpPr>
          <p:cNvPr id="99" name="Shape 4"/>
          <p:cNvSpPr/>
          <p:nvPr/>
        </p:nvSpPr>
        <p:spPr>
          <a:xfrm>
            <a:off x="4759076" y="3612951"/>
            <a:ext cx="3849665" cy="806203"/>
          </a:xfrm>
          <a:prstGeom prst="roundRect">
            <a:avLst>
              <a:gd name="adj" fmla="val 27812"/>
            </a:avLst>
          </a:prstGeom>
          <a:solidFill>
            <a:srgbClr val="0080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08500" y="3845197"/>
            <a:ext cx="186855" cy="149424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Text 5"/>
          <p:cNvSpPr txBox="1"/>
          <p:nvPr/>
        </p:nvSpPr>
        <p:spPr>
          <a:xfrm>
            <a:off x="5244777" y="3780606"/>
            <a:ext cx="3214540" cy="470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1000"/>
              </a:lnSpc>
              <a:def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The strategy trades some upside for meaningfully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lower risk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 txBox="1"/>
          <p:nvPr/>
        </p:nvSpPr>
        <p:spPr>
          <a:xfrm>
            <a:off x="540022" y="566662"/>
            <a:ext cx="452618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6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Trading Costs &amp; Robustness</a:t>
            </a:r>
          </a:p>
        </p:txBody>
      </p:sp>
      <p:pic>
        <p:nvPicPr>
          <p:cNvPr id="10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0022" y="1362000"/>
            <a:ext cx="3849665" cy="2022203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ext 1"/>
          <p:cNvSpPr txBox="1"/>
          <p:nvPr/>
        </p:nvSpPr>
        <p:spPr>
          <a:xfrm>
            <a:off x="4759076" y="1343917"/>
            <a:ext cx="146514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Cost Assumptions</a:t>
            </a:r>
          </a:p>
        </p:txBody>
      </p:sp>
      <p:sp>
        <p:nvSpPr>
          <p:cNvPr id="106" name="Text 2"/>
          <p:cNvSpPr txBox="1"/>
          <p:nvPr/>
        </p:nvSpPr>
        <p:spPr>
          <a:xfrm>
            <a:off x="4759076" y="1696342"/>
            <a:ext cx="3849664" cy="70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1000"/>
              </a:lnSpc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Base case: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20 bps</a:t>
            </a:r>
            <a:r>
              <a:t> per unit of turnover (market orders). Costs matter — a strategy can look profitable before costs and fail after them.</a:t>
            </a:r>
          </a:p>
        </p:txBody>
      </p:sp>
      <p:sp>
        <p:nvSpPr>
          <p:cNvPr id="107" name="Shape 3"/>
          <p:cNvSpPr/>
          <p:nvPr/>
        </p:nvSpPr>
        <p:spPr>
          <a:xfrm>
            <a:off x="4759076" y="2565574"/>
            <a:ext cx="3849665" cy="806203"/>
          </a:xfrm>
          <a:prstGeom prst="roundRect">
            <a:avLst>
              <a:gd name="adj" fmla="val 27812"/>
            </a:avLst>
          </a:prstGeom>
          <a:solidFill>
            <a:srgbClr val="0080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08500" y="2797819"/>
            <a:ext cx="186855" cy="149424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 4"/>
          <p:cNvSpPr txBox="1"/>
          <p:nvPr/>
        </p:nvSpPr>
        <p:spPr>
          <a:xfrm>
            <a:off x="5244777" y="2733228"/>
            <a:ext cx="3214540" cy="470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1000"/>
              </a:lnSpc>
              <a:def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Costs reduce performance meaningfully — but the strategy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remains profitable</a:t>
            </a:r>
            <a:r>
              <a:t> across all scenarios.</a:t>
            </a:r>
          </a:p>
        </p:txBody>
      </p:sp>
      <p:pic>
        <p:nvPicPr>
          <p:cNvPr id="110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0022" y="3709987"/>
            <a:ext cx="2591396" cy="866850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ext 5"/>
          <p:cNvSpPr txBox="1"/>
          <p:nvPr/>
        </p:nvSpPr>
        <p:spPr>
          <a:xfrm>
            <a:off x="784695" y="3878460"/>
            <a:ext cx="78322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E0E4E6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Zero Cost</a:t>
            </a:r>
          </a:p>
        </p:txBody>
      </p:sp>
      <p:sp>
        <p:nvSpPr>
          <p:cNvPr id="112" name="Text 6"/>
          <p:cNvSpPr txBox="1"/>
          <p:nvPr/>
        </p:nvSpPr>
        <p:spPr>
          <a:xfrm>
            <a:off x="784695" y="4172916"/>
            <a:ext cx="189987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1000"/>
              </a:lnSpc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lvl1pPr>
          </a:lstStyle>
          <a:p>
            <a:pPr/>
            <a:r>
              <a:t>Return: 131.6% · Sharpe: 0.94</a:t>
            </a:r>
          </a:p>
        </p:txBody>
      </p:sp>
      <p:pic>
        <p:nvPicPr>
          <p:cNvPr id="11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276227" y="3709987"/>
            <a:ext cx="2591471" cy="866850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 7"/>
          <p:cNvSpPr txBox="1"/>
          <p:nvPr/>
        </p:nvSpPr>
        <p:spPr>
          <a:xfrm>
            <a:off x="3520900" y="3878460"/>
            <a:ext cx="158139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E0E4E6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Limit Orders (7 bps)</a:t>
            </a:r>
          </a:p>
        </p:txBody>
      </p:sp>
      <p:sp>
        <p:nvSpPr>
          <p:cNvPr id="115" name="Text 8"/>
          <p:cNvSpPr txBox="1"/>
          <p:nvPr/>
        </p:nvSpPr>
        <p:spPr>
          <a:xfrm>
            <a:off x="3520900" y="4172916"/>
            <a:ext cx="188957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1000"/>
              </a:lnSpc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lvl1pPr>
          </a:lstStyle>
          <a:p>
            <a:pPr/>
            <a:r>
              <a:t>Return: 116.2% · Sharpe: 0.88</a:t>
            </a:r>
          </a:p>
        </p:txBody>
      </p:sp>
      <p:pic>
        <p:nvPicPr>
          <p:cNvPr id="116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012507" y="3709987"/>
            <a:ext cx="2591395" cy="866850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 9"/>
          <p:cNvSpPr txBox="1"/>
          <p:nvPr/>
        </p:nvSpPr>
        <p:spPr>
          <a:xfrm>
            <a:off x="6257180" y="3878460"/>
            <a:ext cx="181106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E0E4E6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Market Orders (20 bps)</a:t>
            </a:r>
          </a:p>
        </p:txBody>
      </p:sp>
      <p:sp>
        <p:nvSpPr>
          <p:cNvPr id="118" name="Text 10"/>
          <p:cNvSpPr txBox="1"/>
          <p:nvPr/>
        </p:nvSpPr>
        <p:spPr>
          <a:xfrm>
            <a:off x="6257180" y="4172916"/>
            <a:ext cx="182218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1000"/>
              </a:lnSpc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lvl1pPr>
          </a:lstStyle>
          <a:p>
            <a:pPr/>
            <a:r>
              <a:t>Return: 90.3% · Sharpe: 0.76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 txBox="1"/>
          <p:nvPr/>
        </p:nvSpPr>
        <p:spPr>
          <a:xfrm>
            <a:off x="540022" y="437554"/>
            <a:ext cx="181042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6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21" name="Text 1"/>
          <p:cNvSpPr txBox="1"/>
          <p:nvPr/>
        </p:nvSpPr>
        <p:spPr>
          <a:xfrm>
            <a:off x="540022" y="910679"/>
            <a:ext cx="1256917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What We Found</a:t>
            </a:r>
          </a:p>
        </p:txBody>
      </p:sp>
      <p:sp>
        <p:nvSpPr>
          <p:cNvPr id="122" name="Text 2"/>
          <p:cNvSpPr txBox="1"/>
          <p:nvPr/>
        </p:nvSpPr>
        <p:spPr>
          <a:xfrm>
            <a:off x="540022" y="1335508"/>
            <a:ext cx="8063956" cy="470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1000"/>
              </a:lnSpc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A disciplined BTC momentum rule that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reduces volatility and drawdowns</a:t>
            </a:r>
            <a:r>
              <a:t> versus buy-and-hold — with nearly identical Sharpe ratios.</a:t>
            </a:r>
          </a:p>
        </p:txBody>
      </p:sp>
      <p:sp>
        <p:nvSpPr>
          <p:cNvPr id="123" name="Text 3"/>
          <p:cNvSpPr txBox="1"/>
          <p:nvPr/>
        </p:nvSpPr>
        <p:spPr>
          <a:xfrm>
            <a:off x="540022" y="2023616"/>
            <a:ext cx="17003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Important Limitations</a:t>
            </a:r>
          </a:p>
        </p:txBody>
      </p:sp>
      <p:sp>
        <p:nvSpPr>
          <p:cNvPr id="124" name="Text 4"/>
          <p:cNvSpPr txBox="1"/>
          <p:nvPr/>
        </p:nvSpPr>
        <p:spPr>
          <a:xfrm>
            <a:off x="540022" y="2448446"/>
            <a:ext cx="8063956" cy="807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33679" indent="-233679">
              <a:lnSpc>
                <a:spcPct val="131000"/>
              </a:lnSpc>
              <a:buSzPct val="100000"/>
              <a:buChar char="•"/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Does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not</a:t>
            </a:r>
            <a:r>
              <a:t> prove a guaranteed market edge</a:t>
            </a:r>
          </a:p>
          <a:p>
            <a:pPr marL="233679" indent="-233679">
              <a:lnSpc>
                <a:spcPct val="131000"/>
              </a:lnSpc>
              <a:buSzPct val="100000"/>
              <a:buChar char="•"/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Strategy remains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directionally exposed</a:t>
            </a:r>
            <a:r>
              <a:t> to Bitcoin</a:t>
            </a:r>
          </a:p>
          <a:p>
            <a:pPr marL="233679" indent="-233679">
              <a:lnSpc>
                <a:spcPct val="131000"/>
              </a:lnSpc>
              <a:buSzPct val="100000"/>
              <a:buChar char="•"/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Alpha was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not statistically significant</a:t>
            </a:r>
          </a:p>
        </p:txBody>
      </p:sp>
      <p:sp>
        <p:nvSpPr>
          <p:cNvPr id="125" name="Text 5"/>
          <p:cNvSpPr txBox="1"/>
          <p:nvPr/>
        </p:nvSpPr>
        <p:spPr>
          <a:xfrm>
            <a:off x="540022" y="3473351"/>
            <a:ext cx="137953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F0FCFF"/>
                </a:solidFill>
                <a:latin typeface="Spline Sans Bold"/>
                <a:ea typeface="Spline Sans Bold"/>
                <a:cs typeface="Spline Sans Bold"/>
                <a:sym typeface="Spline Sans Bold"/>
              </a:defRPr>
            </a:lvl1pPr>
          </a:lstStyle>
          <a:p>
            <a:pPr/>
            <a:r>
              <a:t>Future Directions</a:t>
            </a:r>
          </a:p>
        </p:txBody>
      </p:sp>
      <p:sp>
        <p:nvSpPr>
          <p:cNvPr id="126" name="Text 6"/>
          <p:cNvSpPr txBox="1"/>
          <p:nvPr/>
        </p:nvSpPr>
        <p:spPr>
          <a:xfrm>
            <a:off x="540022" y="3898181"/>
            <a:ext cx="8063956" cy="807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33679" indent="-233679">
              <a:lnSpc>
                <a:spcPct val="131000"/>
              </a:lnSpc>
              <a:buSzPct val="100000"/>
              <a:buChar char="•"/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Test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multiple cryptocurrencies</a:t>
            </a:r>
            <a:r>
              <a:t> and cross-sectional momentum</a:t>
            </a:r>
          </a:p>
          <a:p>
            <a:pPr marL="233679" indent="-233679">
              <a:lnSpc>
                <a:spcPct val="131000"/>
              </a:lnSpc>
              <a:buSzPct val="100000"/>
              <a:buChar char="•"/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Incorporate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funding-rate and liquidation data</a:t>
            </a:r>
          </a:p>
          <a:p>
            <a:pPr marL="233679" indent="-233679">
              <a:lnSpc>
                <a:spcPct val="131000"/>
              </a:lnSpc>
              <a:buSzPct val="100000"/>
              <a:buChar char="•"/>
              <a:defRPr sz="11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defRPr>
            </a:pPr>
            <a:r>
              <a:t>Apply </a:t>
            </a:r>
            <a:r>
              <a:rPr b="1">
                <a:latin typeface="Barlow Bold"/>
                <a:ea typeface="Barlow Bold"/>
                <a:cs typeface="Barlow Bold"/>
                <a:sym typeface="Barlow Bold"/>
              </a:rPr>
              <a:t>rolling walk-forward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